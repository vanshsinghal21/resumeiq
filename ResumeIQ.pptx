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Noto Serif" panose="02020600060500020200" pitchFamily="18" charset="0"/>
      <p:regular r:id="rId13"/>
      <p:bold r:id="rId14"/>
      <p:italic r:id="rId15"/>
      <p:boldItalic r:id="rId16"/>
    </p:embeddedFont>
    <p:embeddedFont>
      <p:font typeface="Noto Serif Bold" panose="02020800060500020200" charset="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2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8799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2C2B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0323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1005706"/>
            <a:ext cx="1661294" cy="215354"/>
          </a:xfrm>
          <a:prstGeom prst="roundRect">
            <a:avLst>
              <a:gd name="adj" fmla="val 7900"/>
            </a:avLst>
          </a:prstGeom>
          <a:solidFill>
            <a:srgbClr val="37201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4010174" y="1048196"/>
            <a:ext cx="194838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IBM SKILLSBUILD PROJECT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3925119" y="1277764"/>
            <a:ext cx="4722763" cy="611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85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ResumeIQ</a:t>
            </a:r>
            <a:endParaRPr lang="en-US" sz="3850" dirty="0"/>
          </a:p>
        </p:txBody>
      </p:sp>
      <p:sp>
        <p:nvSpPr>
          <p:cNvPr id="6" name="Text 3"/>
          <p:cNvSpPr/>
          <p:nvPr/>
        </p:nvSpPr>
        <p:spPr>
          <a:xfrm>
            <a:off x="3925119" y="2101751"/>
            <a:ext cx="4722763" cy="70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AI-Powered Secure Cloud Resume Management System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925118" y="3061864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Presented by </a:t>
            </a:r>
            <a:r>
              <a:rPr lang="en-US" sz="11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Vansh Singhal</a:t>
            </a:r>
            <a:r>
              <a:rPr lang="en-US" sz="11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925119" y="3636169"/>
            <a:ext cx="531763" cy="215354"/>
          </a:xfrm>
          <a:prstGeom prst="roundRect">
            <a:avLst>
              <a:gd name="adj" fmla="val 7900"/>
            </a:avLst>
          </a:prstGeom>
          <a:noFill/>
          <a:ln w="4763">
            <a:solidFill>
              <a:srgbClr val="E2C2B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4010174" y="3678659"/>
            <a:ext cx="818852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E2C2B3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REACT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527724" y="3636169"/>
            <a:ext cx="624185" cy="215354"/>
          </a:xfrm>
          <a:prstGeom prst="roundRect">
            <a:avLst>
              <a:gd name="adj" fmla="val 7900"/>
            </a:avLst>
          </a:prstGeom>
          <a:noFill/>
          <a:ln w="4763">
            <a:solidFill>
              <a:srgbClr val="E2C2B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4612779" y="3678659"/>
            <a:ext cx="911275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E2C2B3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NODE.JS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222751" y="3636169"/>
            <a:ext cx="652239" cy="215354"/>
          </a:xfrm>
          <a:prstGeom prst="roundRect">
            <a:avLst>
              <a:gd name="adj" fmla="val 7900"/>
            </a:avLst>
          </a:prstGeom>
          <a:noFill/>
          <a:ln w="4763">
            <a:solidFill>
              <a:srgbClr val="E2C2B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5307806" y="3678659"/>
            <a:ext cx="93932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E2C2B3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EXPRESS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945832" y="3636169"/>
            <a:ext cx="1152748" cy="215354"/>
          </a:xfrm>
          <a:prstGeom prst="roundRect">
            <a:avLst>
              <a:gd name="adj" fmla="val 7900"/>
            </a:avLst>
          </a:prstGeom>
          <a:noFill/>
          <a:ln w="4763">
            <a:solidFill>
              <a:srgbClr val="E2C2B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6030888" y="3678659"/>
            <a:ext cx="1439838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E2C2B3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MONGODB ATLAS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7169423" y="3636169"/>
            <a:ext cx="576858" cy="215354"/>
          </a:xfrm>
          <a:prstGeom prst="roundRect">
            <a:avLst>
              <a:gd name="adj" fmla="val 7900"/>
            </a:avLst>
          </a:prstGeom>
          <a:noFill/>
          <a:ln w="4763">
            <a:solidFill>
              <a:srgbClr val="E2C2B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7254478" y="3678659"/>
            <a:ext cx="863947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E2C2B3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AWS S3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7817123" y="3636169"/>
            <a:ext cx="630510" cy="215354"/>
          </a:xfrm>
          <a:prstGeom prst="roundRect">
            <a:avLst>
              <a:gd name="adj" fmla="val 7900"/>
            </a:avLst>
          </a:prstGeom>
          <a:noFill/>
          <a:ln w="4763">
            <a:solidFill>
              <a:srgbClr val="E2C2B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7902178" y="3678659"/>
            <a:ext cx="917600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E2C2B3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DOCKER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3925119" y="3922365"/>
            <a:ext cx="642268" cy="215354"/>
          </a:xfrm>
          <a:prstGeom prst="roundRect">
            <a:avLst>
              <a:gd name="adj" fmla="val 7900"/>
            </a:avLst>
          </a:prstGeom>
          <a:noFill/>
          <a:ln w="4763">
            <a:solidFill>
              <a:srgbClr val="E2C2B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4010174" y="3964856"/>
            <a:ext cx="929357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E2C2B3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GROQ AI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89" y="0"/>
            <a:ext cx="3423422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396925"/>
            <a:ext cx="4722763" cy="705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The Problem With Resume Screening Today</a:t>
            </a:r>
            <a:endParaRPr lang="en-US" sz="22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1237804"/>
            <a:ext cx="4722763" cy="80969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109517" y="1365052"/>
            <a:ext cx="441111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Slow &amp; Manual Process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4109517" y="1595512"/>
            <a:ext cx="441111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Manual resume screening is time-consuming and prone to human error, creating bottlenecks in hiring pipelines.</a:t>
            </a:r>
            <a:endParaRPr lang="en-US" sz="8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2137470"/>
            <a:ext cx="4722763" cy="80969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109517" y="2264718"/>
            <a:ext cx="441111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ATS Black Box</a:t>
            </a:r>
            <a:endParaRPr lang="en-US" sz="1100" dirty="0"/>
          </a:p>
        </p:txBody>
      </p:sp>
      <p:sp>
        <p:nvSpPr>
          <p:cNvPr id="9" name="Text 4"/>
          <p:cNvSpPr/>
          <p:nvPr/>
        </p:nvSpPr>
        <p:spPr>
          <a:xfrm>
            <a:off x="4109517" y="2495178"/>
            <a:ext cx="441111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Candidates have no visibility into how Applicant Tracking Systems evaluate and rank their resumes.</a:t>
            </a:r>
            <a:endParaRPr lang="en-US" sz="8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3037136"/>
            <a:ext cx="4722763" cy="80969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109517" y="3164384"/>
            <a:ext cx="441111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Insecure Storage</a:t>
            </a:r>
            <a:endParaRPr lang="en-US" sz="1100" dirty="0"/>
          </a:p>
        </p:txBody>
      </p:sp>
      <p:sp>
        <p:nvSpPr>
          <p:cNvPr id="12" name="Text 6"/>
          <p:cNvSpPr/>
          <p:nvPr/>
        </p:nvSpPr>
        <p:spPr>
          <a:xfrm>
            <a:off x="4109517" y="3394844"/>
            <a:ext cx="441111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Resume documents are often scattered across unsecured local drives or unencrypted cloud folders.</a:t>
            </a:r>
            <a:endParaRPr lang="en-US" sz="8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3936802"/>
            <a:ext cx="4722763" cy="809699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109517" y="4064050"/>
            <a:ext cx="441111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No Centralized Solution</a:t>
            </a:r>
            <a:endParaRPr lang="en-US" sz="1100" dirty="0"/>
          </a:p>
        </p:txBody>
      </p:sp>
      <p:sp>
        <p:nvSpPr>
          <p:cNvPr id="15" name="Text 8"/>
          <p:cNvSpPr/>
          <p:nvPr/>
        </p:nvSpPr>
        <p:spPr>
          <a:xfrm>
            <a:off x="4109517" y="4294510"/>
            <a:ext cx="441111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No unified, AI-powered cloud platform exists that combines secure storage with intelligent resume analysis.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53033"/>
            <a:ext cx="8151763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Project Objectives</a:t>
            </a:r>
            <a:endParaRPr lang="en-US" sz="2200" dirty="0"/>
          </a:p>
        </p:txBody>
      </p:sp>
      <p:pic>
        <p:nvPicPr>
          <p:cNvPr id="3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6119" y="1379544"/>
            <a:ext cx="5202138" cy="287227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978649" y="1042169"/>
            <a:ext cx="254124" cy="254124"/>
          </a:xfrm>
          <a:prstGeom prst="roundRect">
            <a:avLst>
              <a:gd name="adj" fmla="val 6668"/>
            </a:avLst>
          </a:prstGeom>
          <a:solidFill>
            <a:srgbClr val="5F51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6020953" y="1063303"/>
            <a:ext cx="169441" cy="2117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322740" y="1080939"/>
            <a:ext cx="2329830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Secure Cloud Platform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322740" y="1347415"/>
            <a:ext cx="2329830" cy="487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Build a cloud-based resume management system with AWS S3 storage and encrypted data handling.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978649" y="2014538"/>
            <a:ext cx="254124" cy="254124"/>
          </a:xfrm>
          <a:prstGeom prst="roundRect">
            <a:avLst>
              <a:gd name="adj" fmla="val 6668"/>
            </a:avLst>
          </a:prstGeom>
          <a:solidFill>
            <a:srgbClr val="5F51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020953" y="2035671"/>
            <a:ext cx="169441" cy="2117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322740" y="2053307"/>
            <a:ext cx="2329830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AI-Powered ATS Analysis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322740" y="2319784"/>
            <a:ext cx="2329830" cy="487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Use Groq AI to score resumes, extract skills, and generate actionable improvement suggestions.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978649" y="2986906"/>
            <a:ext cx="254124" cy="254124"/>
          </a:xfrm>
          <a:prstGeom prst="roundRect">
            <a:avLst>
              <a:gd name="adj" fmla="val 6668"/>
            </a:avLst>
          </a:prstGeom>
          <a:solidFill>
            <a:srgbClr val="5F51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6020953" y="3008040"/>
            <a:ext cx="169441" cy="2117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322740" y="3025676"/>
            <a:ext cx="2329830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Robust Authentication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322740" y="3292153"/>
            <a:ext cx="2329830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Protect user data with JWT tokens, OTP verification, and bcrypt password hashing.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5978649" y="3796903"/>
            <a:ext cx="254124" cy="254124"/>
          </a:xfrm>
          <a:prstGeom prst="roundRect">
            <a:avLst>
              <a:gd name="adj" fmla="val 6668"/>
            </a:avLst>
          </a:prstGeom>
          <a:solidFill>
            <a:srgbClr val="5F51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6020953" y="3818037"/>
            <a:ext cx="169441" cy="2117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322740" y="3835673"/>
            <a:ext cx="2329830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Containerized Deployment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322740" y="4102150"/>
            <a:ext cx="2329830" cy="487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Package the full application using Docker for consistent, scalable deployment across environments.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4083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System Architecture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96118" y="410752"/>
            <a:ext cx="8608963" cy="167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ResumeIQ follows a clean three-tier architecture with dedicated services for storage and AI analysis, 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ensuring scalability and separation of concerns.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7533" y="744558"/>
            <a:ext cx="5748933" cy="389206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956538" y="2482059"/>
            <a:ext cx="1160585" cy="530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Four-layer Architecture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049677" y="3572141"/>
            <a:ext cx="1491629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MongoDB Atlas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49678" y="3975082"/>
            <a:ext cx="1491629" cy="2751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1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User metadata and profiles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935738" y="2353814"/>
            <a:ext cx="1524235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Groq AI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950561" y="2719474"/>
            <a:ext cx="1524235" cy="2751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1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ATS scoring and suggestions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2563418" y="3650913"/>
            <a:ext cx="1491628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AWS S3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2563418" y="4008416"/>
            <a:ext cx="1491628" cy="2751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1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Resume storage and retrieval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669204" y="2232057"/>
            <a:ext cx="1524235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Express Backend API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613687" y="2792616"/>
            <a:ext cx="1524235" cy="2751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1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Request routing and processing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3752280" y="997524"/>
            <a:ext cx="1532387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React Frontend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769865" y="1325689"/>
            <a:ext cx="1532387" cy="2751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1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User interface and interactions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231576" y="4708754"/>
            <a:ext cx="8608963" cy="247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React handles the UI, Express processes all API requests, MongoDB stores user metadata, AWS S3 securely hosts 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resume files, and Groq AI delivers instant ATS scores and recommendations.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0496"/>
            <a:ext cx="815176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96119" y="1064940"/>
            <a:ext cx="8608963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Every layer of ResumeIQ is built with modern, industry-standard tools chosen for reliability, performance, and scalability.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96119" y="1411039"/>
            <a:ext cx="8151763" cy="3331964"/>
          </a:xfrm>
          <a:prstGeom prst="roundRect">
            <a:avLst>
              <a:gd name="adj" fmla="val 598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96119" y="1783110"/>
            <a:ext cx="8151763" cy="830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96119" y="2152799"/>
            <a:ext cx="8151763" cy="830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96119" y="2522488"/>
            <a:ext cx="8151763" cy="830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96119" y="2892177"/>
            <a:ext cx="8151763" cy="830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96119" y="3261866"/>
            <a:ext cx="8151763" cy="830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96119" y="3631555"/>
            <a:ext cx="8151763" cy="830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96119" y="4001244"/>
            <a:ext cx="8151763" cy="830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96119" y="4370933"/>
            <a:ext cx="8151763" cy="830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943597" y="1411039"/>
            <a:ext cx="8307" cy="333196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33859" y="1495276"/>
            <a:ext cx="2631653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Layer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078882" y="1495276"/>
            <a:ext cx="5888534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Technology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3859" y="1864965"/>
            <a:ext cx="2631653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Frontend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078882" y="1864965"/>
            <a:ext cx="5888534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React, Tailwind CSS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3859" y="2234654"/>
            <a:ext cx="2631653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Backend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078882" y="2234654"/>
            <a:ext cx="5888534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Node.js, Express.js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3859" y="2604343"/>
            <a:ext cx="2631653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Database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078882" y="2604343"/>
            <a:ext cx="5888534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MongoDB Atlas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3859" y="2974032"/>
            <a:ext cx="2631653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Cloud Storage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078882" y="2974032"/>
            <a:ext cx="5888534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AWS S3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3859" y="3343721"/>
            <a:ext cx="2631653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Authentication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078882" y="3343721"/>
            <a:ext cx="5888534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JWT, OTP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3859" y="3713411"/>
            <a:ext cx="2631653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AI Engine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078882" y="3713411"/>
            <a:ext cx="5888534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Groq API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3859" y="4083100"/>
            <a:ext cx="2631653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Containerization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078882" y="4083100"/>
            <a:ext cx="5888534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Docker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3859" y="4452789"/>
            <a:ext cx="2631653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Version Control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078882" y="4452789"/>
            <a:ext cx="5888534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Git &amp; GitHub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8313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Key Features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2109639"/>
            <a:ext cx="2622724" cy="1650727"/>
          </a:xfrm>
          <a:prstGeom prst="roundRect">
            <a:avLst>
              <a:gd name="adj" fmla="val 1288"/>
            </a:avLst>
          </a:prstGeom>
          <a:solidFill>
            <a:srgbClr val="5F51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37877" y="2251397"/>
            <a:ext cx="2339206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🔐</a:t>
            </a:r>
            <a:r>
              <a:rPr lang="en-US" sz="13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 Authentication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37877" y="2562671"/>
            <a:ext cx="2339206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Signup &amp; Login with validation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Email OTP verification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Forgot password flow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JWT session management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60601" y="2109639"/>
            <a:ext cx="2622724" cy="1650727"/>
          </a:xfrm>
          <a:prstGeom prst="roundRect">
            <a:avLst>
              <a:gd name="adj" fmla="val 1288"/>
            </a:avLst>
          </a:prstGeom>
          <a:solidFill>
            <a:srgbClr val="5F51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402360" y="2251397"/>
            <a:ext cx="2339206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📄</a:t>
            </a:r>
            <a:r>
              <a:rPr lang="en-US" sz="13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 Resume Management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402360" y="2562671"/>
            <a:ext cx="2339206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Upload &amp; download resumes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Secure AWS S3 storage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Signed URL access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Delete &amp; manage documents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25083" y="2109639"/>
            <a:ext cx="2622724" cy="1650727"/>
          </a:xfrm>
          <a:prstGeom prst="roundRect">
            <a:avLst>
              <a:gd name="adj" fmla="val 1288"/>
            </a:avLst>
          </a:prstGeom>
          <a:solidFill>
            <a:srgbClr val="5F51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166842" y="2251397"/>
            <a:ext cx="2339206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🤖</a:t>
            </a:r>
            <a:r>
              <a:rPr lang="en-US" sz="13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 AI Analysis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166842" y="2562671"/>
            <a:ext cx="2339206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ATS compatibility score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Skills extraction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Missing keyword detection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Personalized suggestions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3364" y="265410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Security &amp; Cloud Implementation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43365" y="832943"/>
            <a:ext cx="3986733" cy="277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AWS S3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43362" y="1198402"/>
            <a:ext cx="3986733" cy="544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11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Resumes are stored in private S3 buckets with signed URLs for secure, time-limited download access. No public exposure of user documents.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43365" y="1961432"/>
            <a:ext cx="3986733" cy="177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AWS IAM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43363" y="2350431"/>
            <a:ext cx="3986733" cy="512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11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Least-privilege IAM policies restrict API access to only the S3 resources required, minimizing the blast radius of any credential compromise.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43365" y="3210838"/>
            <a:ext cx="3986733" cy="258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Application Security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43364" y="3591053"/>
            <a:ext cx="3986733" cy="105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11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JWT authentication with refresh tokens</a:t>
            </a:r>
            <a:endParaRPr lang="en-US" sz="110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11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bcrypt password hashing</a:t>
            </a:r>
            <a:endParaRPr lang="en-US" sz="110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11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Email OTP verification</a:t>
            </a:r>
            <a:endParaRPr lang="en-US" sz="110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11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Protected API routes</a:t>
            </a:r>
            <a:endParaRPr lang="en-US" sz="110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11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Environment variable secrets</a:t>
            </a:r>
            <a:endParaRPr lang="en-US" sz="110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11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Docker container isolation</a:t>
            </a:r>
            <a:endParaRPr lang="en-US" sz="11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5911" y="720849"/>
            <a:ext cx="3986733" cy="398673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5333"/>
            <a:ext cx="8151763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AI Analysis &amp; ATS Scoring</a:t>
            </a:r>
            <a:endParaRPr lang="en-US" sz="2250" dirty="0"/>
          </a:p>
        </p:txBody>
      </p:sp>
      <p:pic>
        <p:nvPicPr>
          <p:cNvPr id="3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0965" y="1010841"/>
            <a:ext cx="5070586" cy="294679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82146" y="2018184"/>
            <a:ext cx="267042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982146" y="2291655"/>
            <a:ext cx="2670423" cy="667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ResumeIQ leverages Groq AI to parse uploaded resumes and generate instant, actionable feedback — giving candidates the insight they need to stand out.</a:t>
            </a:r>
            <a:endParaRPr lang="en-US" sz="9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9279" y="4171652"/>
            <a:ext cx="172715" cy="17271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70347" y="4168080"/>
            <a:ext cx="2265015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ATS Compatibility Score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870347" y="4404122"/>
            <a:ext cx="2265015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Evaluates formatting, structure, and keyword density against ATS standards.</a:t>
            </a:r>
            <a:endParaRPr lang="en-US" sz="9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95501" y="4171652"/>
            <a:ext cx="172715" cy="17271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626569" y="4168080"/>
            <a:ext cx="2265015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Skills &amp; Keyword Extraction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3626569" y="4404122"/>
            <a:ext cx="2265015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Identifies existing skills and flags missing keywords for target roles.</a:t>
            </a:r>
            <a:endParaRPr lang="en-US" sz="9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51724" y="4171652"/>
            <a:ext cx="172715" cy="17271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382792" y="4168080"/>
            <a:ext cx="2265015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Personalized Suggestions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6382792" y="4404122"/>
            <a:ext cx="2265015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Generates tailored recommendations to improve resume impact and readability.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7519" y="220303"/>
            <a:ext cx="8151763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Results &amp; Demonstration</a:t>
            </a:r>
            <a:endParaRPr lang="en-US" sz="265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B975768-C6CA-5E73-34B1-574DC2D88C0D}"/>
              </a:ext>
            </a:extLst>
          </p:cNvPr>
          <p:cNvSpPr txBox="1"/>
          <p:nvPr/>
        </p:nvSpPr>
        <p:spPr>
          <a:xfrm>
            <a:off x="556847" y="769393"/>
            <a:ext cx="41089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Successfully Implemented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6549C93-467E-0F82-B210-FDAB0EACC841}"/>
              </a:ext>
            </a:extLst>
          </p:cNvPr>
          <p:cNvSpPr txBox="1"/>
          <p:nvPr/>
        </p:nvSpPr>
        <p:spPr>
          <a:xfrm>
            <a:off x="638909" y="1357848"/>
            <a:ext cx="297766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/>
                </a:solidFill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✅ User Authentication (JWT + OTP)</a:t>
            </a:r>
          </a:p>
          <a:p>
            <a:endParaRPr lang="en-IN" sz="1600" dirty="0">
              <a:solidFill>
                <a:schemeClr val="bg1"/>
              </a:solidFill>
              <a:latin typeface="Noto Serif" panose="02020600060500020200" pitchFamily="18" charset="0"/>
              <a:ea typeface="Noto Serif" panose="02020600060500020200" pitchFamily="18" charset="0"/>
              <a:cs typeface="Noto Serif" panose="02020600060500020200" pitchFamily="18" charset="0"/>
            </a:endParaRPr>
          </a:p>
          <a:p>
            <a:r>
              <a:rPr lang="en-IN" sz="1600" dirty="0">
                <a:solidFill>
                  <a:schemeClr val="bg1"/>
                </a:solidFill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✅ Resume Upload to AWS S3</a:t>
            </a:r>
          </a:p>
          <a:p>
            <a:endParaRPr lang="en-IN" sz="1600" dirty="0">
              <a:solidFill>
                <a:schemeClr val="bg1"/>
              </a:solidFill>
              <a:latin typeface="Noto Serif" panose="02020600060500020200" pitchFamily="18" charset="0"/>
              <a:ea typeface="Noto Serif" panose="02020600060500020200" pitchFamily="18" charset="0"/>
              <a:cs typeface="Noto Serif" panose="02020600060500020200" pitchFamily="18" charset="0"/>
            </a:endParaRPr>
          </a:p>
          <a:p>
            <a:r>
              <a:rPr lang="en-IN" sz="1600" dirty="0">
                <a:solidFill>
                  <a:schemeClr val="bg1"/>
                </a:solidFill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✅ AI Resume Analysis using Groq</a:t>
            </a:r>
          </a:p>
          <a:p>
            <a:endParaRPr lang="en-IN" sz="1600" dirty="0">
              <a:solidFill>
                <a:schemeClr val="bg1"/>
              </a:solidFill>
              <a:latin typeface="Noto Serif" panose="02020600060500020200" pitchFamily="18" charset="0"/>
              <a:ea typeface="Noto Serif" panose="02020600060500020200" pitchFamily="18" charset="0"/>
              <a:cs typeface="Noto Serif" panose="02020600060500020200" pitchFamily="18" charset="0"/>
            </a:endParaRPr>
          </a:p>
          <a:p>
            <a:r>
              <a:rPr lang="en-IN" sz="1600" dirty="0">
                <a:solidFill>
                  <a:schemeClr val="bg1"/>
                </a:solidFill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✅ ATS Score Generation</a:t>
            </a:r>
          </a:p>
          <a:p>
            <a:endParaRPr lang="en-IN" sz="1600" dirty="0">
              <a:solidFill>
                <a:schemeClr val="bg1"/>
              </a:solidFill>
              <a:latin typeface="Noto Serif" panose="02020600060500020200" pitchFamily="18" charset="0"/>
              <a:ea typeface="Noto Serif" panose="02020600060500020200" pitchFamily="18" charset="0"/>
              <a:cs typeface="Noto Serif" panose="02020600060500020200" pitchFamily="18" charset="0"/>
            </a:endParaRPr>
          </a:p>
          <a:p>
            <a:r>
              <a:rPr lang="en-IN" sz="1600" dirty="0">
                <a:solidFill>
                  <a:schemeClr val="bg1"/>
                </a:solidFill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✅ Dockerized Deployment</a:t>
            </a:r>
          </a:p>
          <a:p>
            <a:endParaRPr lang="en-IN" sz="1600" dirty="0">
              <a:solidFill>
                <a:schemeClr val="bg1"/>
              </a:solidFill>
              <a:latin typeface="Noto Serif" panose="02020600060500020200" pitchFamily="18" charset="0"/>
              <a:ea typeface="Noto Serif" panose="02020600060500020200" pitchFamily="18" charset="0"/>
              <a:cs typeface="Noto Serif" panose="02020600060500020200" pitchFamily="18" charset="0"/>
            </a:endParaRPr>
          </a:p>
          <a:p>
            <a:r>
              <a:rPr lang="en-IN" sz="1600" dirty="0">
                <a:solidFill>
                  <a:schemeClr val="bg1"/>
                </a:solidFill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✅ Responsive Dashboard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9B37F11-5966-CDB4-0973-182DE07133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7138" y="582253"/>
            <a:ext cx="3681046" cy="190060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24F6145-68C8-A807-3B07-EFF897649B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7138" y="2660643"/>
            <a:ext cx="3681046" cy="211064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89" y="0"/>
            <a:ext cx="3423422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06598"/>
            <a:ext cx="4722763" cy="29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4" name="Shape 1"/>
          <p:cNvSpPr/>
          <p:nvPr/>
        </p:nvSpPr>
        <p:spPr>
          <a:xfrm>
            <a:off x="3925119" y="788863"/>
            <a:ext cx="4722763" cy="831279"/>
          </a:xfrm>
          <a:prstGeom prst="roundRect">
            <a:avLst>
              <a:gd name="adj" fmla="val 1679"/>
            </a:avLst>
          </a:prstGeom>
          <a:solidFill>
            <a:srgbClr val="5F51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4018136" y="881881"/>
            <a:ext cx="279053" cy="279053"/>
          </a:xfrm>
          <a:prstGeom prst="ellipse">
            <a:avLst/>
          </a:prstGeom>
          <a:solidFill>
            <a:srgbClr val="E2C2B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94857" y="958602"/>
            <a:ext cx="125537" cy="12553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018136" y="1221953"/>
            <a:ext cx="4536728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Resume Analytics Dashboard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4018136" y="1403896"/>
            <a:ext cx="4536728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Visualize trends in ATS scores and improvement over time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3925119" y="1681163"/>
            <a:ext cx="4722763" cy="831279"/>
          </a:xfrm>
          <a:prstGeom prst="roundRect">
            <a:avLst>
              <a:gd name="adj" fmla="val 1679"/>
            </a:avLst>
          </a:prstGeom>
          <a:solidFill>
            <a:srgbClr val="5F51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6"/>
          <p:cNvSpPr/>
          <p:nvPr/>
        </p:nvSpPr>
        <p:spPr>
          <a:xfrm>
            <a:off x="4018136" y="1774180"/>
            <a:ext cx="279053" cy="279053"/>
          </a:xfrm>
          <a:prstGeom prst="ellipse">
            <a:avLst/>
          </a:prstGeom>
          <a:solidFill>
            <a:srgbClr val="E2C2B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94857" y="1850901"/>
            <a:ext cx="125537" cy="12553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018136" y="2114252"/>
            <a:ext cx="4536728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Job Alerts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4018136" y="2296195"/>
            <a:ext cx="4536728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Notify users of matching opportunities based on their resume profile</a:t>
            </a:r>
            <a:endParaRPr lang="en-US" sz="700" dirty="0"/>
          </a:p>
        </p:txBody>
      </p:sp>
      <p:sp>
        <p:nvSpPr>
          <p:cNvPr id="14" name="Shape 9"/>
          <p:cNvSpPr/>
          <p:nvPr/>
        </p:nvSpPr>
        <p:spPr>
          <a:xfrm>
            <a:off x="3925119" y="2573462"/>
            <a:ext cx="4722763" cy="831279"/>
          </a:xfrm>
          <a:prstGeom prst="roundRect">
            <a:avLst>
              <a:gd name="adj" fmla="val 1679"/>
            </a:avLst>
          </a:prstGeom>
          <a:solidFill>
            <a:srgbClr val="5F51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0"/>
          <p:cNvSpPr/>
          <p:nvPr/>
        </p:nvSpPr>
        <p:spPr>
          <a:xfrm>
            <a:off x="4018136" y="2666479"/>
            <a:ext cx="279053" cy="279053"/>
          </a:xfrm>
          <a:prstGeom prst="ellipse">
            <a:avLst/>
          </a:prstGeom>
          <a:solidFill>
            <a:srgbClr val="E2C2B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94857" y="2743200"/>
            <a:ext cx="125537" cy="12553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018136" y="3006551"/>
            <a:ext cx="4536728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Resume Templates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4018136" y="3188494"/>
            <a:ext cx="4536728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Provide ATS-friendly templates to help users build stronger resumes</a:t>
            </a:r>
            <a:endParaRPr lang="en-US" sz="700" dirty="0"/>
          </a:p>
        </p:txBody>
      </p:sp>
      <p:sp>
        <p:nvSpPr>
          <p:cNvPr id="19" name="Shape 13"/>
          <p:cNvSpPr/>
          <p:nvPr/>
        </p:nvSpPr>
        <p:spPr>
          <a:xfrm>
            <a:off x="3925119" y="3465761"/>
            <a:ext cx="4722763" cy="831279"/>
          </a:xfrm>
          <a:prstGeom prst="roundRect">
            <a:avLst>
              <a:gd name="adj" fmla="val 1679"/>
            </a:avLst>
          </a:prstGeom>
          <a:solidFill>
            <a:srgbClr val="5F51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4"/>
          <p:cNvSpPr/>
          <p:nvPr/>
        </p:nvSpPr>
        <p:spPr>
          <a:xfrm>
            <a:off x="4018136" y="3558778"/>
            <a:ext cx="279053" cy="279053"/>
          </a:xfrm>
          <a:prstGeom prst="ellipse">
            <a:avLst/>
          </a:prstGeom>
          <a:solidFill>
            <a:srgbClr val="E2C2B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94857" y="3635499"/>
            <a:ext cx="125537" cy="125537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018136" y="3898850"/>
            <a:ext cx="4536728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Multi-Cloud Support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4018136" y="4080793"/>
            <a:ext cx="4536728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Extend storage capabilities beyond AWS to additional cloud providers</a:t>
            </a:r>
            <a:endParaRPr lang="en-US" sz="700" dirty="0"/>
          </a:p>
        </p:txBody>
      </p:sp>
      <p:sp>
        <p:nvSpPr>
          <p:cNvPr id="24" name="Shape 17"/>
          <p:cNvSpPr/>
          <p:nvPr/>
        </p:nvSpPr>
        <p:spPr>
          <a:xfrm>
            <a:off x="3925119" y="4388941"/>
            <a:ext cx="4722763" cy="9525"/>
          </a:xfrm>
          <a:prstGeom prst="roundRect">
            <a:avLst>
              <a:gd name="adj" fmla="val 60000"/>
            </a:avLst>
          </a:prstGeom>
          <a:solidFill>
            <a:srgbClr val="D3C9C5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18"/>
          <p:cNvSpPr/>
          <p:nvPr/>
        </p:nvSpPr>
        <p:spPr>
          <a:xfrm>
            <a:off x="3925119" y="4490368"/>
            <a:ext cx="4722763" cy="5315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ResumeIQ</a:t>
            </a:r>
            <a:r>
              <a:rPr lang="en-US" sz="11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— AI-Powered Secure Cloud Resume Management System </a:t>
            </a:r>
            <a:r>
              <a:rPr lang="en-US" sz="7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· </a:t>
            </a:r>
          </a:p>
          <a:p>
            <a:pPr marL="0" indent="0" algn="l">
              <a:lnSpc>
                <a:spcPct val="110000"/>
              </a:lnSpc>
              <a:buNone/>
            </a:pPr>
            <a:endParaRPr lang="en-US" sz="1400" dirty="0">
              <a:solidFill>
                <a:srgbClr val="D3C9C5"/>
              </a:solidFill>
              <a:latin typeface="Noto Serif" pitchFamily="34" charset="0"/>
              <a:ea typeface="Noto Serif" pitchFamily="34" charset="-122"/>
              <a:cs typeface="Noto Serif" pitchFamily="34" charset="-120"/>
            </a:endParaRPr>
          </a:p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IBM SkillsBuild Project · Vansh Singhal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639</Words>
  <Application>Microsoft Office PowerPoint</Application>
  <PresentationFormat>On-screen Show (16:9)</PresentationFormat>
  <Paragraphs>141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Noto Serif Bold</vt:lpstr>
      <vt:lpstr>Twemoji Mozilla</vt:lpstr>
      <vt:lpstr>Noto Serif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Vansh Singhal</dc:creator>
  <cp:lastModifiedBy>Vansh Singhal</cp:lastModifiedBy>
  <cp:revision>2</cp:revision>
  <dcterms:created xsi:type="dcterms:W3CDTF">2026-07-15T17:26:18Z</dcterms:created>
  <dcterms:modified xsi:type="dcterms:W3CDTF">2026-07-15T19:36:16Z</dcterms:modified>
</cp:coreProperties>
</file>